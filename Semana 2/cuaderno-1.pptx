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20104100" cy="11855450"/>
  <p:notesSz cx="9144000" cy="6858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719"/>
  </p:normalViewPr>
  <p:slideViewPr>
    <p:cSldViewPr snapToGrid="0">
      <p:cViewPr varScale="1">
        <p:scale>
          <a:sx n="38" d="100"/>
          <a:sy n="38" d="100"/>
        </p:scale>
        <p:origin x="11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4C4D4C"/>
                </a:solidFill>
                <a:latin typeface="Arial"/>
              </a:rPr>
              <a:t>Click to move the slide</a:t>
            </a: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2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22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23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24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FA8E5F20-5958-4E83-BFD9-C94A491CBB65}" type="slidenum">
              <a:rPr lang="en-US" sz="1400" b="0" strike="noStrike" spc="-1">
                <a:latin typeface="Times New Roman"/>
              </a:rPr>
              <a:t>‹Nº›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609850" y="857250"/>
            <a:ext cx="3924300" cy="2314575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8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CO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099266-7FF2-447E-B534-148B719903AE}" type="slidenum">
              <a:rPr lang="en-CO" sz="1200" b="0" strike="noStrike" spc="-1">
                <a:latin typeface="Times New Roman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610000" y="857160"/>
            <a:ext cx="3924000" cy="231408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9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CO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2EAA350-65B8-4C57-8011-51CE2A241C67}" type="slidenum">
              <a:rPr lang="en-CO" sz="1200" b="0" strike="noStrike" spc="-1">
                <a:latin typeface="Times New Roman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609850" y="857250"/>
            <a:ext cx="3924300" cy="2314575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0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CO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265895D-45D3-4F53-9728-9DB31F3C0D74}" type="slidenum">
              <a:rPr lang="en-CO" sz="1200" b="0" strike="noStrike" spc="-1">
                <a:latin typeface="Times New Roman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609850" y="857250"/>
            <a:ext cx="3924300" cy="2314575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1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CO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21F79B3-86D5-4961-994D-F950C62AFCA9}" type="slidenum">
              <a:rPr lang="en-CO" sz="1200" b="0" strike="noStrike" spc="-1">
                <a:latin typeface="Times New Roman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609850" y="857250"/>
            <a:ext cx="3924300" cy="2314575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2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CO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016AE4-E2C2-476C-A520-6A6CD0871C27}" type="slidenum">
              <a:rPr lang="en-CO" sz="1200" b="0" strike="noStrike" spc="-1">
                <a:latin typeface="Times New Roman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609850" y="857250"/>
            <a:ext cx="3924300" cy="2314575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3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CO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12D60B-AEE0-49AB-AB05-1907CB7AF5D4}" type="slidenum">
              <a:rPr lang="en-CO" sz="1200" b="0" strike="noStrike" spc="-1">
                <a:latin typeface="Times New Roman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609850" y="857250"/>
            <a:ext cx="3924300" cy="2314575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4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CO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1E2FD7-8BAE-4D5C-A4DD-4567434F1525}" type="slidenum">
              <a:rPr lang="en-CO" sz="1200" b="0" strike="noStrike" spc="-1">
                <a:latin typeface="Times New Roman"/>
              </a:rPr>
              <a:t>7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609850" y="857250"/>
            <a:ext cx="3924300" cy="2314575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5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CO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0C12B9-0FE6-44B7-AB21-7010EA5FF62D}" type="slidenum">
              <a:rPr lang="en-CO" sz="1200" b="0" strike="noStrike" spc="-1">
                <a:latin typeface="Times New Roman"/>
              </a:rPr>
              <a:t>8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BD7CA16-A783-4D8C-9059-A6C0A7216C97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382040" y="631080"/>
            <a:ext cx="17339400" cy="229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1382040" y="3156120"/>
            <a:ext cx="17339400" cy="75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DDAD6BD-9C8B-4D6D-92C3-2D79257F10E7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382040" y="631080"/>
            <a:ext cx="17339400" cy="229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1382040" y="3156120"/>
            <a:ext cx="17339400" cy="75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ABB40A5-4034-452B-98AE-B0E84C3C5394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382040" y="631080"/>
            <a:ext cx="17339400" cy="229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382040" y="3156120"/>
            <a:ext cx="8461440" cy="75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10266840" y="3156120"/>
            <a:ext cx="8461440" cy="75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4BB7C58-4DFB-4612-B8DA-A580A1594ED2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382040" y="631080"/>
            <a:ext cx="17339400" cy="229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2560477-A416-4D38-9525-D7E565EA34CE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1382040" y="631080"/>
            <a:ext cx="17339400" cy="1062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11DFA36-F8CE-4B37-8DC8-01E4D5160778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382040" y="631080"/>
            <a:ext cx="17339400" cy="229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1382040" y="3156120"/>
            <a:ext cx="846144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10266840" y="3156120"/>
            <a:ext cx="8461440" cy="75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1382040" y="7085160"/>
            <a:ext cx="846144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2FE087E-4301-4FB9-B38D-561AD8E7B494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382040" y="631080"/>
            <a:ext cx="17339400" cy="229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1382040" y="3156120"/>
            <a:ext cx="8461440" cy="75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10266840" y="3156120"/>
            <a:ext cx="846144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10266840" y="7085160"/>
            <a:ext cx="846144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21E8EF0-33C3-4533-9FDF-7E53F0CE236C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382040" y="631080"/>
            <a:ext cx="17339400" cy="229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1382040" y="3156120"/>
            <a:ext cx="846144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10266840" y="3156120"/>
            <a:ext cx="846144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1382040" y="7085160"/>
            <a:ext cx="1733940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038AABF-9D69-4BB1-A04F-7CE8D9BFE681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382040" y="631080"/>
            <a:ext cx="17339400" cy="229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1382040" y="3156120"/>
            <a:ext cx="1733940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1382040" y="7085160"/>
            <a:ext cx="1733940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5D9868C-E2DB-48E9-96FA-54C8E24EEECB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382040" y="631080"/>
            <a:ext cx="17339400" cy="229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382040" y="3156120"/>
            <a:ext cx="846144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10266840" y="3156120"/>
            <a:ext cx="846144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1382040" y="7085160"/>
            <a:ext cx="846144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10266840" y="7085160"/>
            <a:ext cx="846144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B598187-1F73-4901-9727-50130D363055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382040" y="631080"/>
            <a:ext cx="17339400" cy="229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382040" y="3156120"/>
            <a:ext cx="558288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7244280" y="3156120"/>
            <a:ext cx="558288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13106880" y="3156120"/>
            <a:ext cx="558288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/>
          </p:nvPr>
        </p:nvSpPr>
        <p:spPr>
          <a:xfrm>
            <a:off x="1382040" y="7085160"/>
            <a:ext cx="558288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/>
          </p:nvPr>
        </p:nvSpPr>
        <p:spPr>
          <a:xfrm>
            <a:off x="7244280" y="7085160"/>
            <a:ext cx="558288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118" name="PlaceHolder 7"/>
          <p:cNvSpPr>
            <a:spLocks noGrp="1"/>
          </p:cNvSpPr>
          <p:nvPr>
            <p:ph/>
          </p:nvPr>
        </p:nvSpPr>
        <p:spPr>
          <a:xfrm>
            <a:off x="13106880" y="7085160"/>
            <a:ext cx="5582880" cy="358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0AFC936-E884-4A81-B237-A478828C1C9D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382040" y="631080"/>
            <a:ext cx="17339400" cy="2291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s-ES" sz="7250" b="0" strike="noStrike" spc="-1">
                <a:solidFill>
                  <a:srgbClr val="4C4D4C"/>
                </a:solidFill>
                <a:latin typeface="Arial"/>
              </a:rPr>
              <a:t>Haga clic para modificar el estilo de título del patrón</a:t>
            </a:r>
            <a:endParaRPr lang="en-US" sz="725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1382040" y="3156120"/>
            <a:ext cx="17339400" cy="752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76920" indent="-376920">
              <a:lnSpc>
                <a:spcPct val="90000"/>
              </a:lnSpc>
              <a:spcBef>
                <a:spcPts val="1650"/>
              </a:spcBef>
              <a:buClr>
                <a:srgbClr val="4C4D4C"/>
              </a:buClr>
              <a:buFont typeface="Arial"/>
              <a:buChar char="•"/>
            </a:pPr>
            <a:r>
              <a:rPr lang="es-ES" sz="4610" b="0" strike="noStrike" spc="-1">
                <a:solidFill>
                  <a:srgbClr val="4C4D4C"/>
                </a:solidFill>
                <a:latin typeface="Arial"/>
              </a:rPr>
              <a:t>Haga clic para modificar los estilos de texto del patrón</a:t>
            </a:r>
            <a:endParaRPr lang="en-US" sz="4610" b="0" strike="noStrike" spc="-1">
              <a:solidFill>
                <a:srgbClr val="4C4D4C"/>
              </a:solidFill>
              <a:latin typeface="Arial"/>
            </a:endParaRPr>
          </a:p>
          <a:p>
            <a:pPr marL="1130760" lvl="1" indent="-376920">
              <a:lnSpc>
                <a:spcPct val="90000"/>
              </a:lnSpc>
              <a:spcBef>
                <a:spcPts val="825"/>
              </a:spcBef>
              <a:buClr>
                <a:srgbClr val="4C4D4C"/>
              </a:buClr>
              <a:buFont typeface="Arial"/>
              <a:buChar char="•"/>
            </a:pPr>
            <a:r>
              <a:rPr lang="es-ES" sz="3959" b="0" strike="noStrike" spc="-1">
                <a:solidFill>
                  <a:srgbClr val="4C4D4C"/>
                </a:solidFill>
                <a:latin typeface="Arial"/>
              </a:rPr>
              <a:t>Segundo nivel</a:t>
            </a:r>
            <a:endParaRPr lang="en-US" sz="3959" b="0" strike="noStrike" spc="-1">
              <a:solidFill>
                <a:srgbClr val="4C4D4C"/>
              </a:solidFill>
              <a:latin typeface="Arial"/>
            </a:endParaRPr>
          </a:p>
          <a:p>
            <a:pPr marL="1884960" lvl="2" indent="-376920">
              <a:lnSpc>
                <a:spcPct val="90000"/>
              </a:lnSpc>
              <a:spcBef>
                <a:spcPts val="825"/>
              </a:spcBef>
              <a:buClr>
                <a:srgbClr val="4C4D4C"/>
              </a:buClr>
              <a:buFont typeface="Arial"/>
              <a:buChar char="•"/>
            </a:pPr>
            <a:r>
              <a:rPr lang="es-ES" sz="3300" b="0" strike="noStrike" spc="-1">
                <a:solidFill>
                  <a:srgbClr val="4C4D4C"/>
                </a:solidFill>
                <a:latin typeface="Arial"/>
              </a:rPr>
              <a:t>Tercer nivel</a:t>
            </a:r>
            <a:endParaRPr lang="en-US" sz="3300" b="0" strike="noStrike" spc="-1">
              <a:solidFill>
                <a:srgbClr val="4C4D4C"/>
              </a:solidFill>
              <a:latin typeface="Arial"/>
            </a:endParaRPr>
          </a:p>
          <a:p>
            <a:pPr marL="2638800" lvl="3" indent="-376920">
              <a:lnSpc>
                <a:spcPct val="90000"/>
              </a:lnSpc>
              <a:spcBef>
                <a:spcPts val="825"/>
              </a:spcBef>
              <a:buClr>
                <a:srgbClr val="4C4D4C"/>
              </a:buClr>
              <a:buFont typeface="Arial"/>
              <a:buChar char="•"/>
            </a:pPr>
            <a:r>
              <a:rPr lang="es-ES" sz="2970" b="0" strike="noStrike" spc="-1">
                <a:solidFill>
                  <a:srgbClr val="4C4D4C"/>
                </a:solidFill>
                <a:latin typeface="Arial"/>
              </a:rPr>
              <a:t>Cuarto nivel</a:t>
            </a:r>
            <a:endParaRPr lang="en-US" sz="2970" b="0" strike="noStrike" spc="-1">
              <a:solidFill>
                <a:srgbClr val="4C4D4C"/>
              </a:solidFill>
              <a:latin typeface="Arial"/>
            </a:endParaRPr>
          </a:p>
          <a:p>
            <a:pPr marL="3392640" lvl="4" indent="-376920">
              <a:lnSpc>
                <a:spcPct val="90000"/>
              </a:lnSpc>
              <a:spcBef>
                <a:spcPts val="825"/>
              </a:spcBef>
              <a:buClr>
                <a:srgbClr val="4C4D4C"/>
              </a:buClr>
              <a:buFont typeface="Arial"/>
              <a:buChar char="•"/>
            </a:pPr>
            <a:r>
              <a:rPr lang="es-ES" sz="2970" b="0" strike="noStrike" spc="-1">
                <a:solidFill>
                  <a:srgbClr val="4C4D4C"/>
                </a:solidFill>
                <a:latin typeface="Arial"/>
              </a:rPr>
              <a:t>Quinto nivel</a:t>
            </a:r>
            <a:endParaRPr lang="en-US" sz="2970" b="0" strike="noStrike" spc="-1">
              <a:solidFill>
                <a:srgbClr val="4C4D4C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1"/>
          </p:nvPr>
        </p:nvSpPr>
        <p:spPr>
          <a:xfrm>
            <a:off x="1382040" y="10988280"/>
            <a:ext cx="4523040" cy="630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s-CO" sz="1979" b="0" strike="noStrike" spc="-1">
                <a:solidFill>
                  <a:srgbClr val="96969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s-CO" sz="1979" b="0" strike="noStrike" spc="-1">
                <a:solidFill>
                  <a:srgbClr val="969696"/>
                </a:solidFill>
                <a:latin typeface="Arial"/>
              </a:rPr>
              <a:t>&lt;date/time&gt;</a:t>
            </a:r>
            <a:endParaRPr lang="en-US" sz="1979" b="0" strike="noStrike" spc="-1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2"/>
          </p:nvPr>
        </p:nvSpPr>
        <p:spPr>
          <a:xfrm>
            <a:off x="6659640" y="10988280"/>
            <a:ext cx="6784920" cy="630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2" name="PlaceHolder 5"/>
          <p:cNvSpPr>
            <a:spLocks noGrp="1"/>
          </p:cNvSpPr>
          <p:nvPr>
            <p:ph type="sldNum" idx="3"/>
          </p:nvPr>
        </p:nvSpPr>
        <p:spPr>
          <a:xfrm>
            <a:off x="14198400" y="10988280"/>
            <a:ext cx="4523040" cy="630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s-CO" sz="1979" b="0" strike="noStrike" spc="-1">
                <a:solidFill>
                  <a:srgbClr val="969696"/>
                </a:solidFill>
                <a:latin typeface="Arial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51C086-6789-426E-ABB3-33AFEC893E02}" type="slidenum">
              <a:rPr lang="es-CO" sz="1979" b="0" strike="noStrike" spc="-1">
                <a:solidFill>
                  <a:srgbClr val="969696"/>
                </a:solidFill>
                <a:latin typeface="Arial"/>
              </a:rPr>
              <a:t>‹Nº›</a:t>
            </a:fld>
            <a:endParaRPr lang="en-US" sz="1979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riangle 36"/>
          <p:cNvSpPr/>
          <p:nvPr/>
        </p:nvSpPr>
        <p:spPr>
          <a:xfrm>
            <a:off x="3398760" y="0"/>
            <a:ext cx="16705080" cy="11855160"/>
          </a:xfrm>
          <a:prstGeom prst="triangle">
            <a:avLst>
              <a:gd name="adj" fmla="val 9961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CO"/>
          </a:p>
        </p:txBody>
      </p:sp>
      <p:sp>
        <p:nvSpPr>
          <p:cNvPr id="128" name="TextBox 50"/>
          <p:cNvSpPr/>
          <p:nvPr/>
        </p:nvSpPr>
        <p:spPr>
          <a:xfrm>
            <a:off x="8275680" y="8708400"/>
            <a:ext cx="11213280" cy="228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CO" sz="3600" b="0" strike="noStrike" spc="-1">
                <a:solidFill>
                  <a:srgbClr val="FEFAFA"/>
                </a:solidFill>
                <a:latin typeface="Arial"/>
              </a:rPr>
              <a:t>Objetivo:</a:t>
            </a:r>
            <a:endParaRPr lang="en-US" sz="3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3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CO" sz="3600" b="0" strike="noStrike" spc="-1">
                <a:solidFill>
                  <a:srgbClr val="FEFAFA"/>
                </a:solidFill>
                <a:latin typeface="Arial"/>
              </a:rPr>
              <a:t>Identificar restricciones de negocio, restricciones de tecnología y objetivos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9" name="TextBox 12"/>
          <p:cNvSpPr/>
          <p:nvPr/>
        </p:nvSpPr>
        <p:spPr>
          <a:xfrm>
            <a:off x="612720" y="3147120"/>
            <a:ext cx="1267488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CO" sz="6000" b="0" strike="noStrike" spc="-1">
                <a:solidFill>
                  <a:srgbClr val="252884"/>
                </a:solidFill>
                <a:latin typeface="Arial"/>
              </a:rPr>
              <a:t>Restricciones y Objetivos de negocio</a:t>
            </a:r>
            <a:endParaRPr lang="en-US" sz="6000" b="0" strike="noStrike" spc="-1">
              <a:latin typeface="Arial"/>
            </a:endParaRPr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0D41A85D-9361-CD69-6729-8E4E24B24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4304" y="5689699"/>
            <a:ext cx="58293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entagon 35"/>
          <p:cNvSpPr/>
          <p:nvPr/>
        </p:nvSpPr>
        <p:spPr>
          <a:xfrm>
            <a:off x="968400" y="819720"/>
            <a:ext cx="15855120" cy="129276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CO" sz="4400" b="0" strike="noStrike" spc="-1">
                <a:solidFill>
                  <a:srgbClr val="FEFAFA"/>
                </a:solidFill>
                <a:latin typeface="Arial"/>
              </a:rPr>
              <a:t>Instrucciones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1499040" y="3078360"/>
            <a:ext cx="14270400" cy="392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514440" indent="-514440">
              <a:lnSpc>
                <a:spcPct val="100000"/>
              </a:lnSpc>
              <a:buClr>
                <a:srgbClr val="0C0D2B"/>
              </a:buClr>
              <a:buFont typeface="StarSymbol"/>
              <a:buAutoNum type="arabicPeriod"/>
            </a:pPr>
            <a:r>
              <a:rPr lang="en-CO" sz="2800" b="0" strike="noStrike" spc="-1">
                <a:solidFill>
                  <a:srgbClr val="0C0D2B"/>
                </a:solidFill>
                <a:latin typeface="Arial"/>
              </a:rPr>
              <a:t>L</a:t>
            </a:r>
            <a:r>
              <a:rPr lang="en-US" sz="2800" b="0" strike="noStrike" spc="-1">
                <a:solidFill>
                  <a:srgbClr val="0C0D2B"/>
                </a:solidFill>
                <a:latin typeface="Arial"/>
              </a:rPr>
              <a:t>e</a:t>
            </a:r>
            <a:r>
              <a:rPr lang="en-CO" sz="2800" b="0" strike="noStrike" spc="-1">
                <a:solidFill>
                  <a:srgbClr val="0C0D2B"/>
                </a:solidFill>
                <a:latin typeface="Arial"/>
              </a:rPr>
              <a:t>a de nuevo, con detenimiento, el enunciado del proyecto del curso</a:t>
            </a:r>
            <a:endParaRPr lang="en-US" sz="2800" b="0" strike="noStrike" spc="-1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C0D2B"/>
              </a:buClr>
              <a:buFont typeface="StarSymbol"/>
              <a:buAutoNum type="arabicPeriod"/>
            </a:pPr>
            <a:r>
              <a:rPr lang="en-CO" sz="2800" b="0" strike="noStrike" spc="-1">
                <a:solidFill>
                  <a:srgbClr val="0C0D2B"/>
                </a:solidFill>
                <a:latin typeface="Arial"/>
              </a:rPr>
              <a:t>En esta lectura, identifique expresiones que usted considere que reflejan</a:t>
            </a:r>
            <a:endParaRPr lang="en-US" sz="2800" b="0" strike="noStrike" spc="-1">
              <a:latin typeface="Arial"/>
            </a:endParaRPr>
          </a:p>
          <a:p>
            <a:pPr marL="971640" lvl="1" indent="-514440">
              <a:lnSpc>
                <a:spcPct val="100000"/>
              </a:lnSpc>
              <a:buClr>
                <a:srgbClr val="0C0D2B"/>
              </a:buClr>
              <a:buFont typeface="StarSymbol"/>
              <a:buAutoNum type="arabicPeriod"/>
            </a:pPr>
            <a:r>
              <a:rPr lang="en-CO" sz="2800" b="0" strike="noStrike" spc="-1">
                <a:solidFill>
                  <a:srgbClr val="0C0D2B"/>
                </a:solidFill>
                <a:latin typeface="Arial"/>
              </a:rPr>
              <a:t>Objetivos de negocio</a:t>
            </a:r>
            <a:endParaRPr lang="en-US" sz="2800" b="0" strike="noStrike" spc="-1">
              <a:latin typeface="Arial"/>
            </a:endParaRPr>
          </a:p>
          <a:p>
            <a:pPr marL="971640" lvl="1" indent="-514440">
              <a:lnSpc>
                <a:spcPct val="100000"/>
              </a:lnSpc>
              <a:buClr>
                <a:srgbClr val="0C0D2B"/>
              </a:buClr>
              <a:buFont typeface="StarSymbol"/>
              <a:buAutoNum type="arabicPeriod"/>
            </a:pPr>
            <a:r>
              <a:rPr lang="en-CO" sz="2800" b="0" strike="noStrike" spc="-1">
                <a:solidFill>
                  <a:srgbClr val="0C0D2B"/>
                </a:solidFill>
                <a:latin typeface="Arial"/>
              </a:rPr>
              <a:t>Restricciones de negocio</a:t>
            </a:r>
            <a:endParaRPr lang="en-US" sz="2800" b="0" strike="noStrike" spc="-1">
              <a:latin typeface="Arial"/>
            </a:endParaRPr>
          </a:p>
          <a:p>
            <a:pPr marL="971640" lvl="1" indent="-514440">
              <a:lnSpc>
                <a:spcPct val="100000"/>
              </a:lnSpc>
              <a:buClr>
                <a:srgbClr val="0C0D2B"/>
              </a:buClr>
              <a:buFont typeface="StarSymbol"/>
              <a:buAutoNum type="arabicPeriod"/>
            </a:pPr>
            <a:r>
              <a:rPr lang="en-CO" sz="2800" b="0" strike="noStrike" spc="-1">
                <a:solidFill>
                  <a:srgbClr val="0C0D2B"/>
                </a:solidFill>
                <a:latin typeface="Arial"/>
              </a:rPr>
              <a:t>Restricciones de tecnología</a:t>
            </a:r>
            <a:endParaRPr lang="en-US" sz="2800" b="0" strike="noStrike" spc="-1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C0D2B"/>
              </a:buClr>
              <a:buFont typeface="StarSymbol"/>
              <a:buAutoNum type="arabicPeriod"/>
            </a:pPr>
            <a:r>
              <a:rPr lang="en-CO" sz="2800" b="0" strike="noStrike" spc="-1">
                <a:solidFill>
                  <a:srgbClr val="0C0D2B"/>
                </a:solidFill>
                <a:latin typeface="Arial"/>
              </a:rPr>
              <a:t>En las siguienes hojas, encontrará un espacio para documentar objetivos y restricciones </a:t>
            </a:r>
            <a:endParaRPr lang="en-US" sz="2800" b="0" strike="noStrike" spc="-1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C0D2B"/>
              </a:buClr>
              <a:buFont typeface="StarSymbol"/>
              <a:buAutoNum type="arabicPeriod"/>
            </a:pPr>
            <a:r>
              <a:rPr lang="en-CO" sz="2800" b="0" strike="noStrike" spc="-1">
                <a:solidFill>
                  <a:srgbClr val="0C0D2B"/>
                </a:solidFill>
                <a:latin typeface="Arial"/>
              </a:rPr>
              <a:t>Una vez haya terminado de documentar los objetivos y restricciones debe seguir las instrucciones dadas en la lección para enviar su trabajo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entagon 35"/>
          <p:cNvSpPr/>
          <p:nvPr/>
        </p:nvSpPr>
        <p:spPr>
          <a:xfrm>
            <a:off x="2781481" y="296640"/>
            <a:ext cx="15855120" cy="129276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CO" sz="4400" b="0" strike="noStrike" spc="-1">
                <a:solidFill>
                  <a:srgbClr val="FEFAFA"/>
                </a:solidFill>
                <a:latin typeface="Arial"/>
              </a:rPr>
              <a:t>Objetivos de Negocio</a:t>
            </a:r>
            <a:endParaRPr lang="en-US" sz="4400" b="0" strike="noStrike" spc="-1">
              <a:latin typeface="Arial"/>
            </a:endParaRPr>
          </a:p>
        </p:txBody>
      </p:sp>
      <p:grpSp>
        <p:nvGrpSpPr>
          <p:cNvPr id="133" name="Group 42"/>
          <p:cNvGrpSpPr/>
          <p:nvPr/>
        </p:nvGrpSpPr>
        <p:grpSpPr>
          <a:xfrm>
            <a:off x="1046119" y="218503"/>
            <a:ext cx="842760" cy="2322720"/>
            <a:chOff x="1083960" y="887760"/>
            <a:chExt cx="842760" cy="2322720"/>
          </a:xfrm>
        </p:grpSpPr>
        <p:grpSp>
          <p:nvGrpSpPr>
            <p:cNvPr id="134" name="Group 44"/>
            <p:cNvGrpSpPr/>
            <p:nvPr/>
          </p:nvGrpSpPr>
          <p:grpSpPr>
            <a:xfrm>
              <a:off x="1083960" y="887760"/>
              <a:ext cx="842760" cy="2322720"/>
              <a:chOff x="1083960" y="887760"/>
              <a:chExt cx="842760" cy="2322720"/>
            </a:xfrm>
          </p:grpSpPr>
          <p:sp>
            <p:nvSpPr>
              <p:cNvPr id="135" name="Oval 49"/>
              <p:cNvSpPr/>
              <p:nvPr/>
            </p:nvSpPr>
            <p:spPr>
              <a:xfrm>
                <a:off x="1207080" y="887760"/>
                <a:ext cx="596160" cy="61884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CO" dirty="0"/>
              </a:p>
            </p:txBody>
          </p:sp>
          <p:sp>
            <p:nvSpPr>
              <p:cNvPr id="136" name="Chord 50"/>
              <p:cNvSpPr/>
              <p:nvPr/>
            </p:nvSpPr>
            <p:spPr>
              <a:xfrm rot="5572800">
                <a:off x="664560" y="1948320"/>
                <a:ext cx="1681560" cy="842760"/>
              </a:xfrm>
              <a:prstGeom prst="chord">
                <a:avLst>
                  <a:gd name="adj1" fmla="val 4722346"/>
                  <a:gd name="adj2" fmla="val 1620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CO"/>
              </a:p>
            </p:txBody>
          </p:sp>
          <p:grpSp>
            <p:nvGrpSpPr>
              <p:cNvPr id="137" name="Group 57"/>
              <p:cNvGrpSpPr/>
              <p:nvPr/>
            </p:nvGrpSpPr>
            <p:grpSpPr>
              <a:xfrm>
                <a:off x="1422000" y="1515240"/>
                <a:ext cx="218520" cy="705240"/>
                <a:chOff x="1422000" y="1515240"/>
                <a:chExt cx="218520" cy="705240"/>
              </a:xfrm>
            </p:grpSpPr>
            <p:sp>
              <p:nvSpPr>
                <p:cNvPr id="138" name="Triangle 59"/>
                <p:cNvSpPr/>
                <p:nvPr/>
              </p:nvSpPr>
              <p:spPr>
                <a:xfrm rot="10582200">
                  <a:off x="1427400" y="1521360"/>
                  <a:ext cx="207360" cy="18252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CO"/>
                </a:p>
              </p:txBody>
            </p:sp>
            <p:sp>
              <p:nvSpPr>
                <p:cNvPr id="139" name="Snip Diagonal Corner Rectangle 60"/>
                <p:cNvSpPr/>
                <p:nvPr/>
              </p:nvSpPr>
              <p:spPr>
                <a:xfrm>
                  <a:off x="1474560" y="1711080"/>
                  <a:ext cx="114840" cy="509400"/>
                </a:xfrm>
                <a:prstGeom prst="snip2DiagRect">
                  <a:avLst>
                    <a:gd name="adj1" fmla="val 0"/>
                    <a:gd name="adj2" fmla="val 16667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CO"/>
                </a:p>
              </p:txBody>
            </p:sp>
          </p:grpSp>
        </p:grpSp>
        <p:sp>
          <p:nvSpPr>
            <p:cNvPr id="140" name="Triangle 45"/>
            <p:cNvSpPr/>
            <p:nvPr/>
          </p:nvSpPr>
          <p:spPr>
            <a:xfrm rot="9681600">
              <a:off x="1380600" y="1646640"/>
              <a:ext cx="153000" cy="729720"/>
            </a:xfrm>
            <a:prstGeom prst="triangl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  <p:sp>
          <p:nvSpPr>
            <p:cNvPr id="141" name="Triangle 46"/>
            <p:cNvSpPr/>
            <p:nvPr/>
          </p:nvSpPr>
          <p:spPr>
            <a:xfrm rot="11398800">
              <a:off x="1575720" y="1640880"/>
              <a:ext cx="115560" cy="683640"/>
            </a:xfrm>
            <a:prstGeom prst="triangl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  <p:sp>
          <p:nvSpPr>
            <p:cNvPr id="142" name="Diagonal Stripe 48"/>
            <p:cNvSpPr/>
            <p:nvPr/>
          </p:nvSpPr>
          <p:spPr>
            <a:xfrm rot="2425800">
              <a:off x="1450080" y="1262520"/>
              <a:ext cx="174600" cy="162720"/>
            </a:xfrm>
            <a:prstGeom prst="diagStrip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</p:grpSp>
      <p:graphicFrame>
        <p:nvGraphicFramePr>
          <p:cNvPr id="143" name="Table 2"/>
          <p:cNvGraphicFramePr/>
          <p:nvPr>
            <p:extLst>
              <p:ext uri="{D42A27DB-BD31-4B8C-83A1-F6EECF244321}">
                <p14:modId xmlns:p14="http://schemas.microsoft.com/office/powerpoint/2010/main" val="464269044"/>
              </p:ext>
            </p:extLst>
          </p:nvPr>
        </p:nvGraphicFramePr>
        <p:xfrm>
          <a:off x="654450" y="2464035"/>
          <a:ext cx="19157550" cy="8980335"/>
        </p:xfrm>
        <a:graphic>
          <a:graphicData uri="http://schemas.openxmlformats.org/drawingml/2006/table">
            <a:tbl>
              <a:tblPr/>
              <a:tblGrid>
                <a:gridCol w="10546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9472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CO" sz="2400" b="1" strike="noStrike" spc="-1" dirty="0">
                          <a:solidFill>
                            <a:srgbClr val="FEFAFA"/>
                          </a:solidFill>
                          <a:latin typeface="Arial"/>
                        </a:rPr>
                        <a:t>Objetivo de negocio</a:t>
                      </a:r>
                      <a:endParaRPr lang="en-US" sz="2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38160">
                      <a:solidFill>
                        <a:srgbClr val="FEFAFA"/>
                      </a:solidFill>
                    </a:lnB>
                    <a:solidFill>
                      <a:srgbClr val="0C0D2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7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 dirty="0">
                          <a:solidFill>
                            <a:srgbClr val="4C4D4C"/>
                          </a:solidFill>
                          <a:latin typeface="Arial"/>
                        </a:rPr>
                        <a:t>Descripción del objetivo</a:t>
                      </a:r>
                      <a:endParaRPr lang="en-US" sz="2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38160" cap="flat" cmpd="sng" algn="ctr">
                      <a:solidFill>
                        <a:srgbClr val="FE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strike="noStrike" spc="-1" dirty="0" err="1">
                          <a:latin typeface="Arial"/>
                        </a:rPr>
                        <a:t>Implementar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una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innovación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tecnológica</a:t>
                      </a:r>
                      <a:r>
                        <a:rPr lang="en-US" sz="2800" b="0" strike="noStrike" spc="-1" dirty="0">
                          <a:latin typeface="Arial"/>
                        </a:rPr>
                        <a:t> con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Contenido</a:t>
                      </a:r>
                      <a:r>
                        <a:rPr lang="en-US" sz="2800" b="0" strike="noStrike" spc="-1" dirty="0">
                          <a:latin typeface="Arial"/>
                        </a:rPr>
                        <a:t> Digital y un Marketplace que 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permita</a:t>
                      </a:r>
                      <a:r>
                        <a:rPr lang="en-US" sz="2800" b="0" strike="noStrike" spc="-1" dirty="0">
                          <a:latin typeface="Arial"/>
                        </a:rPr>
                        <a:t> a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FotoAlpes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modernizarse</a:t>
                      </a:r>
                      <a:r>
                        <a:rPr lang="en-US" sz="2800" b="0" strike="noStrike" spc="-1" dirty="0">
                          <a:latin typeface="Arial"/>
                        </a:rPr>
                        <a:t>, que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los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clientes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puedan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diseñar</a:t>
                      </a:r>
                      <a:r>
                        <a:rPr lang="en-US" sz="2800" b="0" strike="noStrike" spc="-1" dirty="0">
                          <a:latin typeface="Arial"/>
                        </a:rPr>
                        <a:t> y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comprar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productos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presonalizados</a:t>
                      </a:r>
                      <a:r>
                        <a:rPr lang="en-US" sz="2800" b="0" strike="noStrike" spc="-1" dirty="0">
                          <a:latin typeface="Arial"/>
                        </a:rPr>
                        <a:t>, y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conectar</a:t>
                      </a:r>
                      <a:r>
                        <a:rPr lang="en-US" sz="2800" b="0" strike="noStrike" spc="-1" dirty="0">
                          <a:latin typeface="Arial"/>
                        </a:rPr>
                        <a:t> a la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empresa</a:t>
                      </a:r>
                      <a:r>
                        <a:rPr lang="en-US" sz="2800" b="0" strike="noStrike" spc="-1" dirty="0">
                          <a:latin typeface="Arial"/>
                        </a:rPr>
                        <a:t> con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otros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comercios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para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generar</a:t>
                      </a:r>
                      <a:r>
                        <a:rPr lang="en-US" sz="2800" b="0" strike="noStrike" spc="-1" dirty="0">
                          <a:latin typeface="Arial"/>
                        </a:rPr>
                        <a:t> mas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ventas</a:t>
                      </a:r>
                      <a:endParaRPr lang="en-US" sz="2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47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Tiempo de cumplimiento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strike="noStrike" spc="-1" dirty="0" err="1">
                          <a:latin typeface="Arial"/>
                        </a:rPr>
                        <a:t>Contenido</a:t>
                      </a:r>
                      <a:r>
                        <a:rPr lang="en-US" sz="2800" b="0" strike="noStrike" spc="-1" dirty="0">
                          <a:latin typeface="Arial"/>
                        </a:rPr>
                        <a:t> Digital: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el</a:t>
                      </a:r>
                      <a:r>
                        <a:rPr lang="en-US" sz="2800" b="0" strike="noStrike" spc="-1" dirty="0">
                          <a:latin typeface="Arial"/>
                        </a:rPr>
                        <a:t> 40% de las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ventas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en</a:t>
                      </a:r>
                      <a:r>
                        <a:rPr lang="en-US" sz="2800" b="0" strike="noStrike" spc="-1" dirty="0">
                          <a:latin typeface="Arial"/>
                        </a:rPr>
                        <a:t> 2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años</a:t>
                      </a:r>
                      <a:endParaRPr lang="en-US" sz="28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strike="noStrike" spc="-1" dirty="0" err="1">
                          <a:latin typeface="Arial"/>
                        </a:rPr>
                        <a:t>Marketplace:que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aporte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el</a:t>
                      </a:r>
                      <a:r>
                        <a:rPr lang="en-US" sz="2800" b="0" strike="noStrike" spc="-1" dirty="0">
                          <a:latin typeface="Arial"/>
                        </a:rPr>
                        <a:t> 20% de las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ventas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en</a:t>
                      </a:r>
                      <a:r>
                        <a:rPr lang="en-US" sz="2800" b="0" strike="noStrike" spc="-1" dirty="0">
                          <a:latin typeface="Arial"/>
                        </a:rPr>
                        <a:t> 1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año</a:t>
                      </a:r>
                      <a:r>
                        <a:rPr lang="en-US" sz="2800" b="0" strike="noStrike" spc="-1" dirty="0">
                          <a:latin typeface="Arial"/>
                        </a:rPr>
                        <a:t>, con la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plataforma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funcionando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máximo</a:t>
                      </a:r>
                      <a:r>
                        <a:rPr lang="en-US" sz="2800" b="0" strike="noStrike" spc="-1" dirty="0">
                          <a:latin typeface="Arial"/>
                        </a:rPr>
                        <a:t> 2 meses</a:t>
                      </a: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57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 dirty="0">
                          <a:solidFill>
                            <a:srgbClr val="4C4D4C"/>
                          </a:solidFill>
                          <a:latin typeface="Arial"/>
                        </a:rPr>
                        <a:t>Mejora esperada al negocio</a:t>
                      </a:r>
                      <a:endParaRPr lang="en-US" sz="2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strike="noStrike" spc="-1" dirty="0" err="1">
                          <a:latin typeface="Arial"/>
                        </a:rPr>
                        <a:t>Ampliar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fuentes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de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ingreso</a:t>
                      </a:r>
                      <a:endParaRPr lang="en-US" sz="2800" b="0" strike="noStrike" spc="-1" dirty="0">
                        <a:latin typeface="Arial"/>
                      </a:endParaRPr>
                    </a:p>
                    <a:p>
                      <a:pPr marL="457200" indent="-4572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strike="noStrike" spc="-1" dirty="0" err="1">
                          <a:latin typeface="Arial"/>
                        </a:rPr>
                        <a:t>Llegar</a:t>
                      </a:r>
                      <a:r>
                        <a:rPr lang="en-US" sz="2800" b="0" strike="noStrike" spc="-1" dirty="0">
                          <a:latin typeface="Arial"/>
                        </a:rPr>
                        <a:t> a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nuevos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clientes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que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buscan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productos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digitales</a:t>
                      </a:r>
                      <a:endParaRPr lang="en-US" sz="2800" b="0" strike="noStrike" spc="-1" dirty="0">
                        <a:latin typeface="Arial"/>
                      </a:endParaRPr>
                    </a:p>
                    <a:p>
                      <a:pPr marL="457200" indent="-4572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strike="noStrike" spc="-1" dirty="0" err="1">
                          <a:latin typeface="Arial"/>
                        </a:rPr>
                        <a:t>Generar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alianzas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con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otros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negocios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y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ganar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comisiones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por</a:t>
                      </a:r>
                      <a:r>
                        <a:rPr lang="en-US" sz="2800" b="0" strike="noStrike" spc="-1" dirty="0">
                          <a:latin typeface="Arial"/>
                        </a:rPr>
                        <a:t> las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ventas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realizadas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en</a:t>
                      </a:r>
                      <a:r>
                        <a:rPr lang="en-US" sz="2800" b="0" strike="noStrike" spc="-1" dirty="0">
                          <a:latin typeface="Arial"/>
                        </a:rPr>
                        <a:t> la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plataforma</a:t>
                      </a:r>
                      <a:endParaRPr lang="en-US" sz="2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57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 dirty="0">
                          <a:solidFill>
                            <a:srgbClr val="4C4D4C"/>
                          </a:solidFill>
                          <a:latin typeface="Arial"/>
                        </a:rPr>
                        <a:t>Cómo considera que pueda afectar la arquitectura del sistema este objetivo</a:t>
                      </a:r>
                      <a:endParaRPr lang="en-US" sz="2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strike="noStrike" spc="-1" dirty="0">
                          <a:latin typeface="Arial"/>
                        </a:rPr>
                        <a:t>Se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necesitará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una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plataforma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más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flexible y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moderna</a:t>
                      </a:r>
                      <a:r>
                        <a:rPr lang="en-US" sz="2800" b="0" strike="noStrike" spc="-1" dirty="0">
                          <a:latin typeface="Arial"/>
                        </a:rPr>
                        <a:t>,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capaz</a:t>
                      </a:r>
                      <a:r>
                        <a:rPr lang="en-US" sz="2800" b="0" strike="noStrike" spc="-1" dirty="0">
                          <a:latin typeface="Arial"/>
                        </a:rPr>
                        <a:t> de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manejar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más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clientes</a:t>
                      </a:r>
                      <a:r>
                        <a:rPr lang="en-US" sz="2800" b="0" strike="noStrike" spc="-1" dirty="0">
                          <a:latin typeface="Arial"/>
                        </a:rPr>
                        <a:t>,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pedidos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y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proveedores</a:t>
                      </a:r>
                      <a:r>
                        <a:rPr lang="en-US" sz="2800" b="0" strike="noStrike" spc="-1" dirty="0">
                          <a:latin typeface="Arial"/>
                        </a:rPr>
                        <a:t>,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garantizando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rapidez</a:t>
                      </a:r>
                      <a:r>
                        <a:rPr lang="en-US" sz="2800" b="0" strike="noStrike" spc="-1" dirty="0">
                          <a:latin typeface="Arial"/>
                        </a:rPr>
                        <a:t> para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los</a:t>
                      </a:r>
                      <a:r>
                        <a:rPr lang="en-US" sz="2800" b="0" strike="noStrike" spc="-1" dirty="0">
                          <a:latin typeface="Arial"/>
                        </a:rPr>
                        <a:t> </a:t>
                      </a:r>
                      <a:r>
                        <a:rPr lang="en-US" sz="2800" b="0" strike="noStrike" spc="-1" dirty="0" err="1">
                          <a:latin typeface="Arial"/>
                        </a:rPr>
                        <a:t>usuarios</a:t>
                      </a:r>
                      <a:endParaRPr lang="en-US" sz="2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" name="TextBox 3"/>
          <p:cNvSpPr/>
          <p:nvPr/>
        </p:nvSpPr>
        <p:spPr>
          <a:xfrm>
            <a:off x="2781481" y="1742826"/>
            <a:ext cx="1805472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CO" sz="2000" b="0" strike="noStrike" spc="-1" dirty="0">
                <a:solidFill>
                  <a:srgbClr val="0C0D2B"/>
                </a:solidFill>
                <a:latin typeface="Arial"/>
              </a:rPr>
              <a:t>A partir del enunciado del proyecto, identifique objetivos de negocio que puedan servir como entrada al proceso de diseño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entagon 35"/>
          <p:cNvSpPr/>
          <p:nvPr/>
        </p:nvSpPr>
        <p:spPr>
          <a:xfrm>
            <a:off x="2827080" y="849240"/>
            <a:ext cx="15855120" cy="129276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CO" sz="4400" b="0" strike="noStrike" spc="-1">
                <a:solidFill>
                  <a:srgbClr val="FEFAFA"/>
                </a:solidFill>
                <a:latin typeface="Arial"/>
              </a:rPr>
              <a:t>Objetivos de Negocio</a:t>
            </a:r>
            <a:endParaRPr lang="en-US" sz="4400" b="0" strike="noStrike" spc="-1">
              <a:latin typeface="Arial"/>
            </a:endParaRPr>
          </a:p>
        </p:txBody>
      </p:sp>
      <p:grpSp>
        <p:nvGrpSpPr>
          <p:cNvPr id="146" name="Group 42"/>
          <p:cNvGrpSpPr/>
          <p:nvPr/>
        </p:nvGrpSpPr>
        <p:grpSpPr>
          <a:xfrm>
            <a:off x="1042200" y="887760"/>
            <a:ext cx="926280" cy="2342880"/>
            <a:chOff x="1042200" y="887760"/>
            <a:chExt cx="926280" cy="2342880"/>
          </a:xfrm>
        </p:grpSpPr>
        <p:grpSp>
          <p:nvGrpSpPr>
            <p:cNvPr id="147" name="Group 44"/>
            <p:cNvGrpSpPr/>
            <p:nvPr/>
          </p:nvGrpSpPr>
          <p:grpSpPr>
            <a:xfrm>
              <a:off x="1042200" y="887760"/>
              <a:ext cx="926280" cy="2342880"/>
              <a:chOff x="1042200" y="887760"/>
              <a:chExt cx="926280" cy="2342880"/>
            </a:xfrm>
          </p:grpSpPr>
          <p:sp>
            <p:nvSpPr>
              <p:cNvPr id="148" name="Oval 49"/>
              <p:cNvSpPr/>
              <p:nvPr/>
            </p:nvSpPr>
            <p:spPr>
              <a:xfrm>
                <a:off x="1207080" y="887760"/>
                <a:ext cx="596160" cy="61884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CO"/>
              </a:p>
            </p:txBody>
          </p:sp>
          <p:sp>
            <p:nvSpPr>
              <p:cNvPr id="149" name="Chord 50"/>
              <p:cNvSpPr/>
              <p:nvPr/>
            </p:nvSpPr>
            <p:spPr>
              <a:xfrm rot="5572800">
                <a:off x="664560" y="1948320"/>
                <a:ext cx="1681560" cy="842760"/>
              </a:xfrm>
              <a:prstGeom prst="chord">
                <a:avLst>
                  <a:gd name="adj1" fmla="val 4722346"/>
                  <a:gd name="adj2" fmla="val 1620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CO"/>
              </a:p>
            </p:txBody>
          </p:sp>
          <p:grpSp>
            <p:nvGrpSpPr>
              <p:cNvPr id="150" name="Group 57"/>
              <p:cNvGrpSpPr/>
              <p:nvPr/>
            </p:nvGrpSpPr>
            <p:grpSpPr>
              <a:xfrm>
                <a:off x="1422000" y="1515240"/>
                <a:ext cx="218520" cy="705240"/>
                <a:chOff x="1422000" y="1515240"/>
                <a:chExt cx="218520" cy="705240"/>
              </a:xfrm>
            </p:grpSpPr>
            <p:sp>
              <p:nvSpPr>
                <p:cNvPr id="151" name="Triangle 59"/>
                <p:cNvSpPr/>
                <p:nvPr/>
              </p:nvSpPr>
              <p:spPr>
                <a:xfrm rot="10582200">
                  <a:off x="1427400" y="1521360"/>
                  <a:ext cx="207360" cy="18252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CO"/>
                </a:p>
              </p:txBody>
            </p:sp>
            <p:sp>
              <p:nvSpPr>
                <p:cNvPr id="152" name="Snip Diagonal Corner Rectangle 60"/>
                <p:cNvSpPr/>
                <p:nvPr/>
              </p:nvSpPr>
              <p:spPr>
                <a:xfrm>
                  <a:off x="1474560" y="1711080"/>
                  <a:ext cx="114840" cy="509400"/>
                </a:xfrm>
                <a:prstGeom prst="snip2DiagRect">
                  <a:avLst>
                    <a:gd name="adj1" fmla="val 0"/>
                    <a:gd name="adj2" fmla="val 16667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CO"/>
                </a:p>
              </p:txBody>
            </p:sp>
          </p:grpSp>
        </p:grpSp>
        <p:sp>
          <p:nvSpPr>
            <p:cNvPr id="153" name="Triangle 45"/>
            <p:cNvSpPr/>
            <p:nvPr/>
          </p:nvSpPr>
          <p:spPr>
            <a:xfrm rot="9681600">
              <a:off x="1380600" y="1646640"/>
              <a:ext cx="153000" cy="729720"/>
            </a:xfrm>
            <a:prstGeom prst="triangl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  <p:sp>
          <p:nvSpPr>
            <p:cNvPr id="154" name="Triangle 46"/>
            <p:cNvSpPr/>
            <p:nvPr/>
          </p:nvSpPr>
          <p:spPr>
            <a:xfrm rot="11398800">
              <a:off x="1575720" y="1640880"/>
              <a:ext cx="115560" cy="683640"/>
            </a:xfrm>
            <a:prstGeom prst="triangl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  <p:sp>
          <p:nvSpPr>
            <p:cNvPr id="155" name="Diagonal Stripe 48"/>
            <p:cNvSpPr/>
            <p:nvPr/>
          </p:nvSpPr>
          <p:spPr>
            <a:xfrm rot="2425800">
              <a:off x="1450080" y="1262520"/>
              <a:ext cx="174600" cy="162720"/>
            </a:xfrm>
            <a:prstGeom prst="diagStrip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</p:grpSp>
      <p:graphicFrame>
        <p:nvGraphicFramePr>
          <p:cNvPr id="156" name="Table 2"/>
          <p:cNvGraphicFramePr/>
          <p:nvPr>
            <p:extLst>
              <p:ext uri="{D42A27DB-BD31-4B8C-83A1-F6EECF244321}">
                <p14:modId xmlns:p14="http://schemas.microsoft.com/office/powerpoint/2010/main" val="3006188500"/>
              </p:ext>
            </p:extLst>
          </p:nvPr>
        </p:nvGraphicFramePr>
        <p:xfrm>
          <a:off x="1042200" y="3091680"/>
          <a:ext cx="17640000" cy="6088320"/>
        </p:xfrm>
        <a:graphic>
          <a:graphicData uri="http://schemas.openxmlformats.org/drawingml/2006/table">
            <a:tbl>
              <a:tblPr/>
              <a:tblGrid>
                <a:gridCol w="6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33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CO" sz="2400" b="1" strike="noStrike" spc="-1">
                          <a:solidFill>
                            <a:srgbClr val="FEFAFA"/>
                          </a:solidFill>
                          <a:latin typeface="Arial"/>
                        </a:rPr>
                        <a:t>Objetivo de negocio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38160">
                      <a:solidFill>
                        <a:srgbClr val="FEFAFA"/>
                      </a:solidFill>
                    </a:lnB>
                    <a:solidFill>
                      <a:srgbClr val="0C0D2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Descripción del objetivo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38160" cap="flat" cmpd="sng" algn="ctr">
                      <a:solidFill>
                        <a:srgbClr val="FE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Tiempo de cumplimiento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8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Mejora esperada al negocio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8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7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Cómo considera que pueda afectar la arquitectura del sistema este objetivo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8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8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8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7" name="TextBox 3"/>
          <p:cNvSpPr/>
          <p:nvPr/>
        </p:nvSpPr>
        <p:spPr>
          <a:xfrm>
            <a:off x="2827080" y="2329560"/>
            <a:ext cx="1805472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CO" sz="2000" b="0" strike="noStrike" spc="-1">
                <a:solidFill>
                  <a:srgbClr val="0C0D2B"/>
                </a:solidFill>
                <a:latin typeface="Arial"/>
              </a:rPr>
              <a:t>A partir del enunciado del proyecto, identifique objetivos de negocio que puedan servir como entrada al proceso de diseño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roup 42"/>
          <p:cNvGrpSpPr/>
          <p:nvPr/>
        </p:nvGrpSpPr>
        <p:grpSpPr>
          <a:xfrm>
            <a:off x="1042200" y="887760"/>
            <a:ext cx="926280" cy="2342880"/>
            <a:chOff x="1042200" y="887760"/>
            <a:chExt cx="926280" cy="2342880"/>
          </a:xfrm>
        </p:grpSpPr>
        <p:grpSp>
          <p:nvGrpSpPr>
            <p:cNvPr id="159" name="Group 44"/>
            <p:cNvGrpSpPr/>
            <p:nvPr/>
          </p:nvGrpSpPr>
          <p:grpSpPr>
            <a:xfrm>
              <a:off x="1042200" y="887760"/>
              <a:ext cx="926280" cy="2342880"/>
              <a:chOff x="1042200" y="887760"/>
              <a:chExt cx="926280" cy="2342880"/>
            </a:xfrm>
          </p:grpSpPr>
          <p:sp>
            <p:nvSpPr>
              <p:cNvPr id="160" name="Oval 49"/>
              <p:cNvSpPr/>
              <p:nvPr/>
            </p:nvSpPr>
            <p:spPr>
              <a:xfrm>
                <a:off x="1207080" y="887760"/>
                <a:ext cx="596160" cy="61884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CO"/>
              </a:p>
            </p:txBody>
          </p:sp>
          <p:sp>
            <p:nvSpPr>
              <p:cNvPr id="161" name="Chord 50"/>
              <p:cNvSpPr/>
              <p:nvPr/>
            </p:nvSpPr>
            <p:spPr>
              <a:xfrm rot="5572800">
                <a:off x="664560" y="1948320"/>
                <a:ext cx="1681560" cy="842760"/>
              </a:xfrm>
              <a:prstGeom prst="chord">
                <a:avLst>
                  <a:gd name="adj1" fmla="val 4722346"/>
                  <a:gd name="adj2" fmla="val 1620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CO"/>
              </a:p>
            </p:txBody>
          </p:sp>
          <p:grpSp>
            <p:nvGrpSpPr>
              <p:cNvPr id="162" name="Group 57"/>
              <p:cNvGrpSpPr/>
              <p:nvPr/>
            </p:nvGrpSpPr>
            <p:grpSpPr>
              <a:xfrm>
                <a:off x="1422000" y="1515240"/>
                <a:ext cx="218520" cy="705240"/>
                <a:chOff x="1422000" y="1515240"/>
                <a:chExt cx="218520" cy="705240"/>
              </a:xfrm>
            </p:grpSpPr>
            <p:sp>
              <p:nvSpPr>
                <p:cNvPr id="163" name="Triangle 59"/>
                <p:cNvSpPr/>
                <p:nvPr/>
              </p:nvSpPr>
              <p:spPr>
                <a:xfrm rot="10582200">
                  <a:off x="1427400" y="1521360"/>
                  <a:ext cx="207360" cy="18252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CO"/>
                </a:p>
              </p:txBody>
            </p:sp>
            <p:sp>
              <p:nvSpPr>
                <p:cNvPr id="164" name="Snip Diagonal Corner Rectangle 60"/>
                <p:cNvSpPr/>
                <p:nvPr/>
              </p:nvSpPr>
              <p:spPr>
                <a:xfrm>
                  <a:off x="1474560" y="1711080"/>
                  <a:ext cx="114840" cy="509400"/>
                </a:xfrm>
                <a:prstGeom prst="snip2DiagRect">
                  <a:avLst>
                    <a:gd name="adj1" fmla="val 0"/>
                    <a:gd name="adj2" fmla="val 16667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CO"/>
                </a:p>
              </p:txBody>
            </p:sp>
          </p:grpSp>
        </p:grpSp>
        <p:sp>
          <p:nvSpPr>
            <p:cNvPr id="165" name="Triangle 45"/>
            <p:cNvSpPr/>
            <p:nvPr/>
          </p:nvSpPr>
          <p:spPr>
            <a:xfrm rot="9681600">
              <a:off x="1380600" y="1646640"/>
              <a:ext cx="153000" cy="729720"/>
            </a:xfrm>
            <a:prstGeom prst="triangl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  <p:sp>
          <p:nvSpPr>
            <p:cNvPr id="166" name="Triangle 46"/>
            <p:cNvSpPr/>
            <p:nvPr/>
          </p:nvSpPr>
          <p:spPr>
            <a:xfrm rot="11398800">
              <a:off x="1575720" y="1640880"/>
              <a:ext cx="115560" cy="683640"/>
            </a:xfrm>
            <a:prstGeom prst="triangl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  <p:sp>
          <p:nvSpPr>
            <p:cNvPr id="167" name="Diagonal Stripe 48"/>
            <p:cNvSpPr/>
            <p:nvPr/>
          </p:nvSpPr>
          <p:spPr>
            <a:xfrm rot="2425800">
              <a:off x="1450080" y="1262520"/>
              <a:ext cx="174600" cy="162720"/>
            </a:xfrm>
            <a:prstGeom prst="diagStrip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</p:grpSp>
      <p:graphicFrame>
        <p:nvGraphicFramePr>
          <p:cNvPr id="168" name="Table 2"/>
          <p:cNvGraphicFramePr/>
          <p:nvPr>
            <p:extLst>
              <p:ext uri="{D42A27DB-BD31-4B8C-83A1-F6EECF244321}">
                <p14:modId xmlns:p14="http://schemas.microsoft.com/office/powerpoint/2010/main" val="978896121"/>
              </p:ext>
            </p:extLst>
          </p:nvPr>
        </p:nvGraphicFramePr>
        <p:xfrm>
          <a:off x="1042200" y="3362760"/>
          <a:ext cx="17640000" cy="6292656"/>
        </p:xfrm>
        <a:graphic>
          <a:graphicData uri="http://schemas.openxmlformats.org/drawingml/2006/table">
            <a:tbl>
              <a:tblPr/>
              <a:tblGrid>
                <a:gridCol w="6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33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CO" sz="2400" b="1" strike="noStrike" spc="-1">
                          <a:solidFill>
                            <a:srgbClr val="FEFAFA"/>
                          </a:solidFill>
                          <a:latin typeface="Arial"/>
                        </a:rPr>
                        <a:t>Restricciones  de negocio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38160">
                      <a:solidFill>
                        <a:srgbClr val="FEFAFA"/>
                      </a:solidFill>
                    </a:lnB>
                    <a:solidFill>
                      <a:srgbClr val="0C0D2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Descripción de la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38160" cap="flat" cmpd="sng" algn="ctr">
                      <a:solidFill>
                        <a:srgbClr val="FE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Usuario que expresa esta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Justificación para esta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6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Cómo considera que pueda afectar la arquitectura del sistema esta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9" name="Pentagon 14"/>
          <p:cNvSpPr/>
          <p:nvPr/>
        </p:nvSpPr>
        <p:spPr>
          <a:xfrm>
            <a:off x="2827080" y="849240"/>
            <a:ext cx="15855120" cy="129276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CO" sz="4400" b="0" strike="noStrike" spc="-1">
                <a:solidFill>
                  <a:srgbClr val="FEFAFA"/>
                </a:solidFill>
                <a:latin typeface="Arial"/>
              </a:rPr>
              <a:t>Restricciones de Negocio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170" name="TextBox 15"/>
          <p:cNvSpPr/>
          <p:nvPr/>
        </p:nvSpPr>
        <p:spPr>
          <a:xfrm>
            <a:off x="2827080" y="2139840"/>
            <a:ext cx="1580220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CO" sz="2000" b="0" strike="noStrike" spc="-1">
                <a:solidFill>
                  <a:srgbClr val="0C0D2B"/>
                </a:solidFill>
                <a:latin typeface="Arial"/>
              </a:rPr>
              <a:t>A partir del enunciado del proyecto, identifique restricciones de negocio que puedan servir como entrada al proceso de diseño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roup 42"/>
          <p:cNvGrpSpPr/>
          <p:nvPr/>
        </p:nvGrpSpPr>
        <p:grpSpPr>
          <a:xfrm>
            <a:off x="1042200" y="887760"/>
            <a:ext cx="926280" cy="2342880"/>
            <a:chOff x="1042200" y="887760"/>
            <a:chExt cx="926280" cy="2342880"/>
          </a:xfrm>
        </p:grpSpPr>
        <p:grpSp>
          <p:nvGrpSpPr>
            <p:cNvPr id="172" name="Group 44"/>
            <p:cNvGrpSpPr/>
            <p:nvPr/>
          </p:nvGrpSpPr>
          <p:grpSpPr>
            <a:xfrm>
              <a:off x="1042200" y="887760"/>
              <a:ext cx="926280" cy="2342880"/>
              <a:chOff x="1042200" y="887760"/>
              <a:chExt cx="926280" cy="2342880"/>
            </a:xfrm>
          </p:grpSpPr>
          <p:sp>
            <p:nvSpPr>
              <p:cNvPr id="173" name="Oval 49"/>
              <p:cNvSpPr/>
              <p:nvPr/>
            </p:nvSpPr>
            <p:spPr>
              <a:xfrm>
                <a:off x="1207080" y="887760"/>
                <a:ext cx="596160" cy="61884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CO"/>
              </a:p>
            </p:txBody>
          </p:sp>
          <p:sp>
            <p:nvSpPr>
              <p:cNvPr id="174" name="Chord 50"/>
              <p:cNvSpPr/>
              <p:nvPr/>
            </p:nvSpPr>
            <p:spPr>
              <a:xfrm rot="5572800">
                <a:off x="664560" y="1948320"/>
                <a:ext cx="1681560" cy="842760"/>
              </a:xfrm>
              <a:prstGeom prst="chord">
                <a:avLst>
                  <a:gd name="adj1" fmla="val 4722346"/>
                  <a:gd name="adj2" fmla="val 1620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CO"/>
              </a:p>
            </p:txBody>
          </p:sp>
          <p:grpSp>
            <p:nvGrpSpPr>
              <p:cNvPr id="175" name="Group 57"/>
              <p:cNvGrpSpPr/>
              <p:nvPr/>
            </p:nvGrpSpPr>
            <p:grpSpPr>
              <a:xfrm>
                <a:off x="1422000" y="1515240"/>
                <a:ext cx="218520" cy="705240"/>
                <a:chOff x="1422000" y="1515240"/>
                <a:chExt cx="218520" cy="705240"/>
              </a:xfrm>
            </p:grpSpPr>
            <p:sp>
              <p:nvSpPr>
                <p:cNvPr id="176" name="Triangle 59"/>
                <p:cNvSpPr/>
                <p:nvPr/>
              </p:nvSpPr>
              <p:spPr>
                <a:xfrm rot="10582200">
                  <a:off x="1427400" y="1521360"/>
                  <a:ext cx="207360" cy="18252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CO"/>
                </a:p>
              </p:txBody>
            </p:sp>
            <p:sp>
              <p:nvSpPr>
                <p:cNvPr id="177" name="Snip Diagonal Corner Rectangle 60"/>
                <p:cNvSpPr/>
                <p:nvPr/>
              </p:nvSpPr>
              <p:spPr>
                <a:xfrm>
                  <a:off x="1474560" y="1711080"/>
                  <a:ext cx="114840" cy="509400"/>
                </a:xfrm>
                <a:prstGeom prst="snip2DiagRect">
                  <a:avLst>
                    <a:gd name="adj1" fmla="val 0"/>
                    <a:gd name="adj2" fmla="val 16667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CO"/>
                </a:p>
              </p:txBody>
            </p:sp>
          </p:grpSp>
        </p:grpSp>
        <p:sp>
          <p:nvSpPr>
            <p:cNvPr id="178" name="Triangle 45"/>
            <p:cNvSpPr/>
            <p:nvPr/>
          </p:nvSpPr>
          <p:spPr>
            <a:xfrm rot="9681600">
              <a:off x="1380600" y="1646640"/>
              <a:ext cx="153000" cy="729720"/>
            </a:xfrm>
            <a:prstGeom prst="triangl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  <p:sp>
          <p:nvSpPr>
            <p:cNvPr id="179" name="Triangle 46"/>
            <p:cNvSpPr/>
            <p:nvPr/>
          </p:nvSpPr>
          <p:spPr>
            <a:xfrm rot="11398800">
              <a:off x="1575720" y="1640880"/>
              <a:ext cx="115560" cy="683640"/>
            </a:xfrm>
            <a:prstGeom prst="triangl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  <p:sp>
          <p:nvSpPr>
            <p:cNvPr id="180" name="Diagonal Stripe 48"/>
            <p:cNvSpPr/>
            <p:nvPr/>
          </p:nvSpPr>
          <p:spPr>
            <a:xfrm rot="2425800">
              <a:off x="1450080" y="1262520"/>
              <a:ext cx="174600" cy="162720"/>
            </a:xfrm>
            <a:prstGeom prst="diagStrip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</p:grpSp>
      <p:graphicFrame>
        <p:nvGraphicFramePr>
          <p:cNvPr id="181" name="Table 2"/>
          <p:cNvGraphicFramePr/>
          <p:nvPr>
            <p:extLst>
              <p:ext uri="{D42A27DB-BD31-4B8C-83A1-F6EECF244321}">
                <p14:modId xmlns:p14="http://schemas.microsoft.com/office/powerpoint/2010/main" val="2845919626"/>
              </p:ext>
            </p:extLst>
          </p:nvPr>
        </p:nvGraphicFramePr>
        <p:xfrm>
          <a:off x="1042200" y="3362760"/>
          <a:ext cx="17640000" cy="6292656"/>
        </p:xfrm>
        <a:graphic>
          <a:graphicData uri="http://schemas.openxmlformats.org/drawingml/2006/table">
            <a:tbl>
              <a:tblPr/>
              <a:tblGrid>
                <a:gridCol w="6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33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CO" sz="2400" b="1" strike="noStrike" spc="-1">
                          <a:solidFill>
                            <a:srgbClr val="FEFAFA"/>
                          </a:solidFill>
                          <a:latin typeface="Arial"/>
                        </a:rPr>
                        <a:t>Restricciones  de negocio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38160">
                      <a:solidFill>
                        <a:srgbClr val="FEFAFA"/>
                      </a:solidFill>
                    </a:lnB>
                    <a:solidFill>
                      <a:srgbClr val="0C0D2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Descripción de la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38160" cap="flat" cmpd="sng" algn="ctr">
                      <a:solidFill>
                        <a:srgbClr val="FE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Usuario que expresa esta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Justificación para esta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6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Cómo considera que pueda afectar la arquitectura del sistema esta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2" name="Pentagon 14"/>
          <p:cNvSpPr/>
          <p:nvPr/>
        </p:nvSpPr>
        <p:spPr>
          <a:xfrm>
            <a:off x="2827080" y="849240"/>
            <a:ext cx="15855120" cy="129276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CO" sz="4400" b="0" strike="noStrike" spc="-1">
                <a:solidFill>
                  <a:srgbClr val="FEFAFA"/>
                </a:solidFill>
                <a:latin typeface="Arial"/>
              </a:rPr>
              <a:t>Restricciones de Negocio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183" name="TextBox 15"/>
          <p:cNvSpPr/>
          <p:nvPr/>
        </p:nvSpPr>
        <p:spPr>
          <a:xfrm>
            <a:off x="2827080" y="2139840"/>
            <a:ext cx="1580220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CO" sz="2000" b="0" strike="noStrike" spc="-1">
                <a:solidFill>
                  <a:srgbClr val="0C0D2B"/>
                </a:solidFill>
                <a:latin typeface="Arial"/>
              </a:rPr>
              <a:t>A partir del enunciado del proyecto, identifique restricciones de negocio que puedan servir como entrada al proceso de diseño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roup 42"/>
          <p:cNvGrpSpPr/>
          <p:nvPr/>
        </p:nvGrpSpPr>
        <p:grpSpPr>
          <a:xfrm>
            <a:off x="1042200" y="887760"/>
            <a:ext cx="926280" cy="2342880"/>
            <a:chOff x="1042200" y="887760"/>
            <a:chExt cx="926280" cy="2342880"/>
          </a:xfrm>
        </p:grpSpPr>
        <p:grpSp>
          <p:nvGrpSpPr>
            <p:cNvPr id="185" name="Group 44"/>
            <p:cNvGrpSpPr/>
            <p:nvPr/>
          </p:nvGrpSpPr>
          <p:grpSpPr>
            <a:xfrm>
              <a:off x="1042200" y="887760"/>
              <a:ext cx="926280" cy="2342880"/>
              <a:chOff x="1042200" y="887760"/>
              <a:chExt cx="926280" cy="2342880"/>
            </a:xfrm>
          </p:grpSpPr>
          <p:sp>
            <p:nvSpPr>
              <p:cNvPr id="186" name="Oval 49"/>
              <p:cNvSpPr/>
              <p:nvPr/>
            </p:nvSpPr>
            <p:spPr>
              <a:xfrm>
                <a:off x="1207080" y="887760"/>
                <a:ext cx="596160" cy="61884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CO"/>
              </a:p>
            </p:txBody>
          </p:sp>
          <p:sp>
            <p:nvSpPr>
              <p:cNvPr id="187" name="Chord 50"/>
              <p:cNvSpPr/>
              <p:nvPr/>
            </p:nvSpPr>
            <p:spPr>
              <a:xfrm rot="5572800">
                <a:off x="664560" y="1948320"/>
                <a:ext cx="1681560" cy="842760"/>
              </a:xfrm>
              <a:prstGeom prst="chord">
                <a:avLst>
                  <a:gd name="adj1" fmla="val 4722346"/>
                  <a:gd name="adj2" fmla="val 1620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CO"/>
              </a:p>
            </p:txBody>
          </p:sp>
          <p:grpSp>
            <p:nvGrpSpPr>
              <p:cNvPr id="188" name="Group 57"/>
              <p:cNvGrpSpPr/>
              <p:nvPr/>
            </p:nvGrpSpPr>
            <p:grpSpPr>
              <a:xfrm>
                <a:off x="1422000" y="1515240"/>
                <a:ext cx="218520" cy="705240"/>
                <a:chOff x="1422000" y="1515240"/>
                <a:chExt cx="218520" cy="705240"/>
              </a:xfrm>
            </p:grpSpPr>
            <p:sp>
              <p:nvSpPr>
                <p:cNvPr id="189" name="Triangle 59"/>
                <p:cNvSpPr/>
                <p:nvPr/>
              </p:nvSpPr>
              <p:spPr>
                <a:xfrm rot="10582200">
                  <a:off x="1427400" y="1521360"/>
                  <a:ext cx="207360" cy="18252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CO"/>
                </a:p>
              </p:txBody>
            </p:sp>
            <p:sp>
              <p:nvSpPr>
                <p:cNvPr id="190" name="Snip Diagonal Corner Rectangle 60"/>
                <p:cNvSpPr/>
                <p:nvPr/>
              </p:nvSpPr>
              <p:spPr>
                <a:xfrm>
                  <a:off x="1474560" y="1711080"/>
                  <a:ext cx="114840" cy="509400"/>
                </a:xfrm>
                <a:prstGeom prst="snip2DiagRect">
                  <a:avLst>
                    <a:gd name="adj1" fmla="val 0"/>
                    <a:gd name="adj2" fmla="val 16667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CO"/>
                </a:p>
              </p:txBody>
            </p:sp>
          </p:grpSp>
        </p:grpSp>
        <p:sp>
          <p:nvSpPr>
            <p:cNvPr id="191" name="Triangle 45"/>
            <p:cNvSpPr/>
            <p:nvPr/>
          </p:nvSpPr>
          <p:spPr>
            <a:xfrm rot="9681600">
              <a:off x="1380600" y="1646640"/>
              <a:ext cx="153000" cy="729720"/>
            </a:xfrm>
            <a:prstGeom prst="triangl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  <p:sp>
          <p:nvSpPr>
            <p:cNvPr id="192" name="Triangle 46"/>
            <p:cNvSpPr/>
            <p:nvPr/>
          </p:nvSpPr>
          <p:spPr>
            <a:xfrm rot="11398800">
              <a:off x="1575720" y="1640880"/>
              <a:ext cx="115560" cy="683640"/>
            </a:xfrm>
            <a:prstGeom prst="triangl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  <p:sp>
          <p:nvSpPr>
            <p:cNvPr id="193" name="Diagonal Stripe 48"/>
            <p:cNvSpPr/>
            <p:nvPr/>
          </p:nvSpPr>
          <p:spPr>
            <a:xfrm rot="2425800">
              <a:off x="1450080" y="1262520"/>
              <a:ext cx="174600" cy="162720"/>
            </a:xfrm>
            <a:prstGeom prst="diagStrip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</p:grpSp>
      <p:graphicFrame>
        <p:nvGraphicFramePr>
          <p:cNvPr id="194" name="Table 2"/>
          <p:cNvGraphicFramePr/>
          <p:nvPr>
            <p:extLst>
              <p:ext uri="{D42A27DB-BD31-4B8C-83A1-F6EECF244321}">
                <p14:modId xmlns:p14="http://schemas.microsoft.com/office/powerpoint/2010/main" val="2687011134"/>
              </p:ext>
            </p:extLst>
          </p:nvPr>
        </p:nvGraphicFramePr>
        <p:xfrm>
          <a:off x="1042200" y="3362760"/>
          <a:ext cx="17640000" cy="6235200"/>
        </p:xfrm>
        <a:graphic>
          <a:graphicData uri="http://schemas.openxmlformats.org/drawingml/2006/table">
            <a:tbl>
              <a:tblPr/>
              <a:tblGrid>
                <a:gridCol w="6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33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CO" sz="2400" b="1" strike="noStrike" spc="-1">
                          <a:solidFill>
                            <a:srgbClr val="FEFAFA"/>
                          </a:solidFill>
                          <a:latin typeface="Arial"/>
                        </a:rPr>
                        <a:t>Restricciones  de tecnología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38160">
                      <a:solidFill>
                        <a:srgbClr val="FEFAFA"/>
                      </a:solidFill>
                    </a:lnB>
                    <a:solidFill>
                      <a:srgbClr val="0C0D2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Descripción de la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38160" cap="flat" cmpd="sng" algn="ctr">
                      <a:solidFill>
                        <a:srgbClr val="FE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Usuario que expresa esta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Justificación para esta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6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Cómo considera que pueda afectar la arquitectura del sistema esta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" name="Pentagon 14"/>
          <p:cNvSpPr/>
          <p:nvPr/>
        </p:nvSpPr>
        <p:spPr>
          <a:xfrm>
            <a:off x="2827080" y="849240"/>
            <a:ext cx="15855120" cy="129276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CO" sz="4400" b="0" strike="noStrike" spc="-1">
                <a:solidFill>
                  <a:srgbClr val="FEFAFA"/>
                </a:solidFill>
                <a:latin typeface="Arial"/>
              </a:rPr>
              <a:t>Restricciones de Tecnología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196" name="TextBox 15"/>
          <p:cNvSpPr/>
          <p:nvPr/>
        </p:nvSpPr>
        <p:spPr>
          <a:xfrm>
            <a:off x="2827080" y="2139840"/>
            <a:ext cx="1580220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CO" sz="2000" b="0" strike="noStrike" spc="-1">
                <a:solidFill>
                  <a:srgbClr val="0C0D2B"/>
                </a:solidFill>
                <a:latin typeface="Arial"/>
              </a:rPr>
              <a:t>A partir del enunciado del proyecto, identifique restricciones de negocio que puedan servir como entrada al proceso de diseño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oup 42"/>
          <p:cNvGrpSpPr/>
          <p:nvPr/>
        </p:nvGrpSpPr>
        <p:grpSpPr>
          <a:xfrm>
            <a:off x="1042200" y="887760"/>
            <a:ext cx="926280" cy="2342880"/>
            <a:chOff x="1042200" y="887760"/>
            <a:chExt cx="926280" cy="2342880"/>
          </a:xfrm>
        </p:grpSpPr>
        <p:grpSp>
          <p:nvGrpSpPr>
            <p:cNvPr id="198" name="Group 44"/>
            <p:cNvGrpSpPr/>
            <p:nvPr/>
          </p:nvGrpSpPr>
          <p:grpSpPr>
            <a:xfrm>
              <a:off x="1042200" y="887760"/>
              <a:ext cx="926280" cy="2342880"/>
              <a:chOff x="1042200" y="887760"/>
              <a:chExt cx="926280" cy="2342880"/>
            </a:xfrm>
          </p:grpSpPr>
          <p:sp>
            <p:nvSpPr>
              <p:cNvPr id="199" name="Oval 49"/>
              <p:cNvSpPr/>
              <p:nvPr/>
            </p:nvSpPr>
            <p:spPr>
              <a:xfrm>
                <a:off x="1207080" y="887760"/>
                <a:ext cx="596160" cy="61884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CO"/>
              </a:p>
            </p:txBody>
          </p:sp>
          <p:sp>
            <p:nvSpPr>
              <p:cNvPr id="200" name="Chord 50"/>
              <p:cNvSpPr/>
              <p:nvPr/>
            </p:nvSpPr>
            <p:spPr>
              <a:xfrm rot="5572800">
                <a:off x="664560" y="1948320"/>
                <a:ext cx="1681560" cy="842760"/>
              </a:xfrm>
              <a:prstGeom prst="chord">
                <a:avLst>
                  <a:gd name="adj1" fmla="val 4722346"/>
                  <a:gd name="adj2" fmla="val 16200000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CO"/>
              </a:p>
            </p:txBody>
          </p:sp>
          <p:grpSp>
            <p:nvGrpSpPr>
              <p:cNvPr id="201" name="Group 57"/>
              <p:cNvGrpSpPr/>
              <p:nvPr/>
            </p:nvGrpSpPr>
            <p:grpSpPr>
              <a:xfrm>
                <a:off x="1422000" y="1515240"/>
                <a:ext cx="218520" cy="705240"/>
                <a:chOff x="1422000" y="1515240"/>
                <a:chExt cx="218520" cy="705240"/>
              </a:xfrm>
            </p:grpSpPr>
            <p:sp>
              <p:nvSpPr>
                <p:cNvPr id="202" name="Triangle 59"/>
                <p:cNvSpPr/>
                <p:nvPr/>
              </p:nvSpPr>
              <p:spPr>
                <a:xfrm rot="10582200">
                  <a:off x="1427400" y="1521360"/>
                  <a:ext cx="207360" cy="18252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CO"/>
                </a:p>
              </p:txBody>
            </p:sp>
            <p:sp>
              <p:nvSpPr>
                <p:cNvPr id="203" name="Snip Diagonal Corner Rectangle 60"/>
                <p:cNvSpPr/>
                <p:nvPr/>
              </p:nvSpPr>
              <p:spPr>
                <a:xfrm>
                  <a:off x="1474560" y="1711080"/>
                  <a:ext cx="114840" cy="509400"/>
                </a:xfrm>
                <a:prstGeom prst="snip2DiagRect">
                  <a:avLst>
                    <a:gd name="adj1" fmla="val 0"/>
                    <a:gd name="adj2" fmla="val 16667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CO"/>
                </a:p>
              </p:txBody>
            </p:sp>
          </p:grpSp>
        </p:grpSp>
        <p:sp>
          <p:nvSpPr>
            <p:cNvPr id="204" name="Triangle 45"/>
            <p:cNvSpPr/>
            <p:nvPr/>
          </p:nvSpPr>
          <p:spPr>
            <a:xfrm rot="9681600">
              <a:off x="1380600" y="1646640"/>
              <a:ext cx="153000" cy="729720"/>
            </a:xfrm>
            <a:prstGeom prst="triangl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  <p:sp>
          <p:nvSpPr>
            <p:cNvPr id="205" name="Triangle 46"/>
            <p:cNvSpPr/>
            <p:nvPr/>
          </p:nvSpPr>
          <p:spPr>
            <a:xfrm rot="11398800">
              <a:off x="1575720" y="1640880"/>
              <a:ext cx="115560" cy="683640"/>
            </a:xfrm>
            <a:prstGeom prst="triangl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  <p:sp>
          <p:nvSpPr>
            <p:cNvPr id="206" name="Diagonal Stripe 48"/>
            <p:cNvSpPr/>
            <p:nvPr/>
          </p:nvSpPr>
          <p:spPr>
            <a:xfrm rot="2425800">
              <a:off x="1450080" y="1262520"/>
              <a:ext cx="174600" cy="162720"/>
            </a:xfrm>
            <a:prstGeom prst="diagStripe">
              <a:avLst>
                <a:gd name="adj" fmla="val 50000"/>
              </a:avLst>
            </a:prstGeom>
            <a:solidFill>
              <a:srgbClr val="0C0D2B"/>
            </a:solidFill>
            <a:ln>
              <a:solidFill>
                <a:srgbClr val="080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CO"/>
            </a:p>
          </p:txBody>
        </p:sp>
      </p:grpSp>
      <p:graphicFrame>
        <p:nvGraphicFramePr>
          <p:cNvPr id="207" name="Table 2"/>
          <p:cNvGraphicFramePr/>
          <p:nvPr>
            <p:extLst>
              <p:ext uri="{D42A27DB-BD31-4B8C-83A1-F6EECF244321}">
                <p14:modId xmlns:p14="http://schemas.microsoft.com/office/powerpoint/2010/main" val="685414249"/>
              </p:ext>
            </p:extLst>
          </p:nvPr>
        </p:nvGraphicFramePr>
        <p:xfrm>
          <a:off x="1042200" y="3362760"/>
          <a:ext cx="17640000" cy="6235200"/>
        </p:xfrm>
        <a:graphic>
          <a:graphicData uri="http://schemas.openxmlformats.org/drawingml/2006/table">
            <a:tbl>
              <a:tblPr/>
              <a:tblGrid>
                <a:gridCol w="6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33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CO" sz="2400" b="1" strike="noStrike" spc="-1">
                          <a:solidFill>
                            <a:srgbClr val="FEFAFA"/>
                          </a:solidFill>
                          <a:latin typeface="Arial"/>
                        </a:rPr>
                        <a:t>Restricciones  de tecnología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38160">
                      <a:solidFill>
                        <a:srgbClr val="FEFAFA"/>
                      </a:solidFill>
                    </a:lnB>
                    <a:solidFill>
                      <a:srgbClr val="0C0D2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Descripción de la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38160" cap="flat" cmpd="sng" algn="ctr">
                      <a:solidFill>
                        <a:srgbClr val="FE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Usuario que expresa esta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Justificación para esta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CCC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6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CO" sz="2800" b="1" strike="noStrike" spc="-1">
                          <a:solidFill>
                            <a:srgbClr val="4C4D4C"/>
                          </a:solidFill>
                          <a:latin typeface="Arial"/>
                        </a:rPr>
                        <a:t>Cómo considera que pueda afectar la arquitectura del sistema esta restricción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en-US" sz="297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EFAFA"/>
                      </a:solidFill>
                    </a:lnL>
                    <a:lnR w="12240">
                      <a:solidFill>
                        <a:srgbClr val="FEFAFA"/>
                      </a:solidFill>
                    </a:lnR>
                    <a:lnT w="12240">
                      <a:solidFill>
                        <a:srgbClr val="FEFAFA"/>
                      </a:solidFill>
                    </a:lnT>
                    <a:lnB w="12240">
                      <a:solidFill>
                        <a:srgbClr val="FEFAFA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8" name="Pentagon 14"/>
          <p:cNvSpPr/>
          <p:nvPr/>
        </p:nvSpPr>
        <p:spPr>
          <a:xfrm>
            <a:off x="2827080" y="849240"/>
            <a:ext cx="15855120" cy="129276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CO" sz="4400" b="0" strike="noStrike" spc="-1">
                <a:solidFill>
                  <a:srgbClr val="FEFAFA"/>
                </a:solidFill>
                <a:latin typeface="Arial"/>
              </a:rPr>
              <a:t>Restricciones de Tecnología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09" name="TextBox 15"/>
          <p:cNvSpPr/>
          <p:nvPr/>
        </p:nvSpPr>
        <p:spPr>
          <a:xfrm>
            <a:off x="2827080" y="2139840"/>
            <a:ext cx="1580220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CO" sz="2000" b="0" strike="noStrike" spc="-1">
                <a:solidFill>
                  <a:srgbClr val="0C0D2B"/>
                </a:solidFill>
                <a:latin typeface="Arial"/>
              </a:rPr>
              <a:t>A partir del enunciado del proyecto, identifique restricciones de negocio que puedan servir como entrada al proceso de diseño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F504F"/>
      </a:dk2>
      <a:lt2>
        <a:srgbClr val="FFFAFA"/>
      </a:lt2>
      <a:accent1>
        <a:srgbClr val="0C0D2B"/>
      </a:accent1>
      <a:accent2>
        <a:srgbClr val="332174"/>
      </a:accent2>
      <a:accent3>
        <a:srgbClr val="3AB1E3"/>
      </a:accent3>
      <a:accent4>
        <a:srgbClr val="0070BA"/>
      </a:accent4>
      <a:accent5>
        <a:srgbClr val="9AC3E2"/>
      </a:accent5>
      <a:accent6>
        <a:srgbClr val="9991BA"/>
      </a:accent6>
      <a:hlink>
        <a:srgbClr val="32AEE2"/>
      </a:hlink>
      <a:folHlink>
        <a:srgbClr val="4D9BC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F504F"/>
      </a:dk2>
      <a:lt2>
        <a:srgbClr val="FFFAFA"/>
      </a:lt2>
      <a:accent1>
        <a:srgbClr val="0C0D2B"/>
      </a:accent1>
      <a:accent2>
        <a:srgbClr val="332174"/>
      </a:accent2>
      <a:accent3>
        <a:srgbClr val="3AB1E3"/>
      </a:accent3>
      <a:accent4>
        <a:srgbClr val="0070BA"/>
      </a:accent4>
      <a:accent5>
        <a:srgbClr val="9AC3E2"/>
      </a:accent5>
      <a:accent6>
        <a:srgbClr val="9991BA"/>
      </a:accent6>
      <a:hlink>
        <a:srgbClr val="32AEE2"/>
      </a:hlink>
      <a:folHlink>
        <a:srgbClr val="4D9BC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MISO</Template>
  <TotalTime>4500</TotalTime>
  <Words>512</Words>
  <Application>Microsoft Office PowerPoint</Application>
  <PresentationFormat>Personalizado</PresentationFormat>
  <Paragraphs>71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StarSymbol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Felipe Arturo Bonilla Parra</dc:creator>
  <dc:description/>
  <cp:lastModifiedBy>Jennifer Andrea  Salazar Betancur</cp:lastModifiedBy>
  <cp:revision>104</cp:revision>
  <dcterms:created xsi:type="dcterms:W3CDTF">2020-02-04T21:09:36Z</dcterms:created>
  <dcterms:modified xsi:type="dcterms:W3CDTF">2025-08-17T16:16:49Z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0x010100C3FA879870CE104FB414359600E5844F</vt:lpwstr>
  </property>
  <property fmtid="{D5CDD505-2E9C-101B-9397-08002B2CF9AE}" pid="3" name="Notes">
    <vt:i4>9</vt:i4>
  </property>
  <property fmtid="{D5CDD505-2E9C-101B-9397-08002B2CF9AE}" pid="4" name="PresentationFormat">
    <vt:lpwstr>Personalizado</vt:lpwstr>
  </property>
  <property fmtid="{D5CDD505-2E9C-101B-9397-08002B2CF9AE}" pid="5" name="Slides">
    <vt:i4>9</vt:i4>
  </property>
</Properties>
</file>